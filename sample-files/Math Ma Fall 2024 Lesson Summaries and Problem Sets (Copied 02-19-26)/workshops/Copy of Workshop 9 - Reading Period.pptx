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  <p:embeddedFont>
      <p:font typeface="Libre Franklin"/>
      <p:regular r:id="rId18"/>
      <p:bold r:id="rId19"/>
      <p:italic r:id="rId20"/>
      <p:boldItalic r:id="rId21"/>
    </p:embeddedFont>
    <p:embeddedFont>
      <p:font typeface="Caveat"/>
      <p:regular r:id="rId22"/>
      <p:bold r:id="rId23"/>
    </p:embeddedFont>
    <p:embeddedFont>
      <p:font typeface="Bebas Neue"/>
      <p:regular r:id="rId24"/>
    </p:embeddedFont>
    <p:embeddedFont>
      <p:font typeface="Domine"/>
      <p:regular r:id="rId25"/>
      <p:bold r:id="rId26"/>
    </p:embeddedFont>
    <p:embeddedFont>
      <p:font typeface="Libre Franklin Medium"/>
      <p:regular r:id="rId27"/>
      <p:bold r:id="rId28"/>
      <p:italic r:id="rId29"/>
      <p:boldItalic r:id="rId30"/>
    </p:embeddedFont>
    <p:embeddedFont>
      <p:font typeface="Albert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22" Type="http://schemas.openxmlformats.org/officeDocument/2006/relationships/font" Target="fonts/Caveat-regular.fntdata"/><Relationship Id="rId21" Type="http://schemas.openxmlformats.org/officeDocument/2006/relationships/font" Target="fonts/LibreFranklin-boldItalic.fntdata"/><Relationship Id="rId24" Type="http://schemas.openxmlformats.org/officeDocument/2006/relationships/font" Target="fonts/BebasNeue-regular.fntdata"/><Relationship Id="rId23" Type="http://schemas.openxmlformats.org/officeDocument/2006/relationships/font" Target="fonts/Caveat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Domine-bold.fntdata"/><Relationship Id="rId25" Type="http://schemas.openxmlformats.org/officeDocument/2006/relationships/font" Target="fonts/Domine-regular.fntdata"/><Relationship Id="rId28" Type="http://schemas.openxmlformats.org/officeDocument/2006/relationships/font" Target="fonts/LibreFranklinMedium-bold.fntdata"/><Relationship Id="rId27" Type="http://schemas.openxmlformats.org/officeDocument/2006/relationships/font" Target="fonts/LibreFranklin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bertSans-regular.fntdata"/><Relationship Id="rId30" Type="http://schemas.openxmlformats.org/officeDocument/2006/relationships/font" Target="fonts/LibreFranklin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AlbertSans-italic.fntdata"/><Relationship Id="rId10" Type="http://schemas.openxmlformats.org/officeDocument/2006/relationships/slide" Target="slides/slide5.xml"/><Relationship Id="rId32" Type="http://schemas.openxmlformats.org/officeDocument/2006/relationships/font" Target="fonts/Albert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AlbertSans-boldItalic.fntdata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19" Type="http://schemas.openxmlformats.org/officeDocument/2006/relationships/font" Target="fonts/LibreFranklin-bold.fntdata"/><Relationship Id="rId18" Type="http://schemas.openxmlformats.org/officeDocument/2006/relationships/font" Target="fonts/LibreFrankl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0fb8bc67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0fb8bc67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when other classes’ finals, papers, and review sessions are also matters!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3031681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3031681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examples of problem solving process: Understanding the Prompt: (1) I have a hard time figuring out “what kind” of problem this is when it comes to exponential modeling. </a:t>
            </a:r>
            <a:br>
              <a:rPr lang="en"/>
            </a:br>
            <a:r>
              <a:rPr lang="en"/>
              <a:t>Formulating or Carrying out the Plan: (2) I struggle to put together models for optimization (3) I have a hard time </a:t>
            </a:r>
            <a:r>
              <a:rPr lang="en"/>
              <a:t>with</a:t>
            </a:r>
            <a:r>
              <a:rPr lang="en"/>
              <a:t> the computation of taking derivatives or solving equations.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30316818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30316818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shows the to-do list with the date-specific events on the study schedule. Highlighted stuff is immovable.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9e78ee9b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9e78ee9b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shows the to-do list spread over the study schedule with the date-specific events interspersed.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9f8a1ec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9f8a1ec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big tips about what to focus on within the study </a:t>
            </a:r>
            <a:r>
              <a:rPr lang="en"/>
              <a:t>approach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30316818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830316818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learning strategies since we are focusing a lot on practice problems.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3e5b6de4b2_0_27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3e5b6de4b2_0_27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04550" y="761800"/>
            <a:ext cx="6054300" cy="186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04550" y="2726026"/>
            <a:ext cx="60543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" name="Google Shape;15;p2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348775" y="2469451"/>
            <a:ext cx="4360200" cy="1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1348775" y="1441645"/>
            <a:ext cx="1089900" cy="102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cxnSp>
        <p:nvCxnSpPr>
          <p:cNvPr id="22" name="Google Shape;22;p3"/>
          <p:cNvCxnSpPr/>
          <p:nvPr/>
        </p:nvCxnSpPr>
        <p:spPr>
          <a:xfrm rot="10800000"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3"/>
          <p:cNvCxnSpPr/>
          <p:nvPr/>
        </p:nvCxnSpPr>
        <p:spPr>
          <a:xfrm rot="10800000"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 flipH="1" rot="10800000">
            <a:off x="6995857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6995857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" name="Google Shape;26;p3"/>
          <p:cNvSpPr/>
          <p:nvPr/>
        </p:nvSpPr>
        <p:spPr>
          <a:xfrm flipH="1">
            <a:off x="855257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8552575" y="463637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0934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31" name="Google Shape;31;p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4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" name="Google Shape;35;p4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" name="Google Shape;36;p4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290775" y="2316676"/>
            <a:ext cx="2907600" cy="6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4945650" y="2316676"/>
            <a:ext cx="2907600" cy="6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1290775" y="2883150"/>
            <a:ext cx="2907600" cy="140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4945650" y="2883150"/>
            <a:ext cx="2907600" cy="1402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5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9" name="Google Shape;49;p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6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6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7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7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 txBox="1"/>
          <p:nvPr>
            <p:ph type="title"/>
          </p:nvPr>
        </p:nvSpPr>
        <p:spPr>
          <a:xfrm>
            <a:off x="869425" y="1464900"/>
            <a:ext cx="3214800" cy="572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869425" y="2037600"/>
            <a:ext cx="3214800" cy="164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5" name="Google Shape;65;p7"/>
          <p:cNvSpPr/>
          <p:nvPr>
            <p:ph idx="2" type="pic"/>
          </p:nvPr>
        </p:nvSpPr>
        <p:spPr>
          <a:xfrm>
            <a:off x="4490050" y="700726"/>
            <a:ext cx="3742800" cy="3741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8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8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8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78" name="Google Shape;78;p9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9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9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8" name="Google Shape;88;p1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0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0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0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1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1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1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1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 txBox="1"/>
          <p:nvPr>
            <p:ph hasCustomPrompt="1" type="title"/>
          </p:nvPr>
        </p:nvSpPr>
        <p:spPr>
          <a:xfrm>
            <a:off x="1284000" y="1533336"/>
            <a:ext cx="6576000" cy="13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5" name="Google Shape;105;p11"/>
          <p:cNvSpPr txBox="1"/>
          <p:nvPr>
            <p:ph idx="1" type="subTitle"/>
          </p:nvPr>
        </p:nvSpPr>
        <p:spPr>
          <a:xfrm>
            <a:off x="1284000" y="2896536"/>
            <a:ext cx="6576000" cy="6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2" type="title"/>
          </p:nvPr>
        </p:nvSpPr>
        <p:spPr>
          <a:xfrm>
            <a:off x="9043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3" type="title"/>
          </p:nvPr>
        </p:nvSpPr>
        <p:spPr>
          <a:xfrm>
            <a:off x="904325" y="3009675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4" type="title"/>
          </p:nvPr>
        </p:nvSpPr>
        <p:spPr>
          <a:xfrm>
            <a:off x="35930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5" type="title"/>
          </p:nvPr>
        </p:nvSpPr>
        <p:spPr>
          <a:xfrm>
            <a:off x="3593025" y="3013275"/>
            <a:ext cx="6918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hasCustomPrompt="1" idx="6" type="title"/>
          </p:nvPr>
        </p:nvSpPr>
        <p:spPr>
          <a:xfrm>
            <a:off x="6281725" y="1335400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hasCustomPrompt="1" idx="7" type="title"/>
          </p:nvPr>
        </p:nvSpPr>
        <p:spPr>
          <a:xfrm>
            <a:off x="6281725" y="3009475"/>
            <a:ext cx="691800" cy="572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9043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8" type="subTitle"/>
          </p:nvPr>
        </p:nvSpPr>
        <p:spPr>
          <a:xfrm>
            <a:off x="35930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9" type="subTitle"/>
          </p:nvPr>
        </p:nvSpPr>
        <p:spPr>
          <a:xfrm>
            <a:off x="6281725" y="1806975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3" type="subTitle"/>
          </p:nvPr>
        </p:nvSpPr>
        <p:spPr>
          <a:xfrm>
            <a:off x="9043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14" type="subTitle"/>
          </p:nvPr>
        </p:nvSpPr>
        <p:spPr>
          <a:xfrm>
            <a:off x="35930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15" type="subTitle"/>
          </p:nvPr>
        </p:nvSpPr>
        <p:spPr>
          <a:xfrm>
            <a:off x="6281725" y="3484896"/>
            <a:ext cx="1950900" cy="8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i="1" sz="1800"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omine"/>
              <a:buNone/>
              <a:defRPr sz="1800"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cxnSp>
        <p:nvCxnSpPr>
          <p:cNvPr id="121" name="Google Shape;121;p13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3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3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13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3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" type="subTitle"/>
          </p:nvPr>
        </p:nvSpPr>
        <p:spPr>
          <a:xfrm>
            <a:off x="4846900" y="1949000"/>
            <a:ext cx="3582000" cy="25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131" name="Google Shape;131;p14"/>
          <p:cNvSpPr txBox="1"/>
          <p:nvPr>
            <p:ph type="title"/>
          </p:nvPr>
        </p:nvSpPr>
        <p:spPr>
          <a:xfrm>
            <a:off x="4846900" y="669400"/>
            <a:ext cx="3582000" cy="122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32" name="Google Shape;132;p1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4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1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4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idx="1" type="subTitle"/>
          </p:nvPr>
        </p:nvSpPr>
        <p:spPr>
          <a:xfrm>
            <a:off x="715100" y="1879500"/>
            <a:ext cx="3480300" cy="24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Font typeface="Barlow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142" name="Google Shape;142;p15"/>
          <p:cNvSpPr txBox="1"/>
          <p:nvPr>
            <p:ph type="title"/>
          </p:nvPr>
        </p:nvSpPr>
        <p:spPr>
          <a:xfrm>
            <a:off x="715100" y="860000"/>
            <a:ext cx="3001500" cy="10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43" name="Google Shape;143;p1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5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715100" y="1142125"/>
            <a:ext cx="7704000" cy="32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0" name="Google Shape;150;p1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6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7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17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715100" y="1142125"/>
            <a:ext cx="7704000" cy="11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18"/>
          <p:cNvSpPr txBox="1"/>
          <p:nvPr>
            <p:ph idx="1" type="subTitle"/>
          </p:nvPr>
        </p:nvSpPr>
        <p:spPr>
          <a:xfrm>
            <a:off x="714975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18"/>
          <p:cNvSpPr txBox="1"/>
          <p:nvPr>
            <p:ph idx="2" type="subTitle"/>
          </p:nvPr>
        </p:nvSpPr>
        <p:spPr>
          <a:xfrm>
            <a:off x="714975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8"/>
          <p:cNvSpPr txBox="1"/>
          <p:nvPr>
            <p:ph idx="3" type="subTitle"/>
          </p:nvPr>
        </p:nvSpPr>
        <p:spPr>
          <a:xfrm>
            <a:off x="3481788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>
            <p:ph idx="4" type="subTitle"/>
          </p:nvPr>
        </p:nvSpPr>
        <p:spPr>
          <a:xfrm>
            <a:off x="6248626" y="2875017"/>
            <a:ext cx="2180400" cy="112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5" type="subTitle"/>
          </p:nvPr>
        </p:nvSpPr>
        <p:spPr>
          <a:xfrm>
            <a:off x="3481788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6" type="subTitle"/>
          </p:nvPr>
        </p:nvSpPr>
        <p:spPr>
          <a:xfrm>
            <a:off x="6248626" y="2438250"/>
            <a:ext cx="2180400" cy="491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73" name="Google Shape;173;p18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8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8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18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8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18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1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9"/>
          <p:cNvSpPr/>
          <p:nvPr/>
        </p:nvSpPr>
        <p:spPr>
          <a:xfrm>
            <a:off x="8526475" y="47830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19"/>
          <p:cNvSpPr txBox="1"/>
          <p:nvPr>
            <p:ph idx="1" type="subTitle"/>
          </p:nvPr>
        </p:nvSpPr>
        <p:spPr>
          <a:xfrm>
            <a:off x="1531275" y="121312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2" type="subTitle"/>
          </p:nvPr>
        </p:nvSpPr>
        <p:spPr>
          <a:xfrm>
            <a:off x="1531276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5" name="Google Shape;185;p19"/>
          <p:cNvSpPr txBox="1"/>
          <p:nvPr>
            <p:ph idx="3" type="subTitle"/>
          </p:nvPr>
        </p:nvSpPr>
        <p:spPr>
          <a:xfrm>
            <a:off x="5457002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idx="4" type="subTitle"/>
          </p:nvPr>
        </p:nvSpPr>
        <p:spPr>
          <a:xfrm>
            <a:off x="1531276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5" type="subTitle"/>
          </p:nvPr>
        </p:nvSpPr>
        <p:spPr>
          <a:xfrm>
            <a:off x="5457002" y="34283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6" type="subTitle"/>
          </p:nvPr>
        </p:nvSpPr>
        <p:spPr>
          <a:xfrm>
            <a:off x="1531275" y="296144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9" name="Google Shape;189;p19"/>
          <p:cNvSpPr txBox="1"/>
          <p:nvPr>
            <p:ph idx="7" type="subTitle"/>
          </p:nvPr>
        </p:nvSpPr>
        <p:spPr>
          <a:xfrm>
            <a:off x="5457000" y="1213120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8" type="subTitle"/>
          </p:nvPr>
        </p:nvSpPr>
        <p:spPr>
          <a:xfrm>
            <a:off x="5457000" y="2961445"/>
            <a:ext cx="2967000" cy="525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91" name="Google Shape;191;p19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9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19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5042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720000" y="177147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2" type="subTitle"/>
          </p:nvPr>
        </p:nvSpPr>
        <p:spPr>
          <a:xfrm>
            <a:off x="3342470" y="1771478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3" type="subTitle"/>
          </p:nvPr>
        </p:nvSpPr>
        <p:spPr>
          <a:xfrm>
            <a:off x="5964600" y="1771477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4" type="subTitle"/>
          </p:nvPr>
        </p:nvSpPr>
        <p:spPr>
          <a:xfrm>
            <a:off x="720000" y="339639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5" type="subTitle"/>
          </p:nvPr>
        </p:nvSpPr>
        <p:spPr>
          <a:xfrm>
            <a:off x="3342470" y="3396390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6" type="subTitle"/>
          </p:nvPr>
        </p:nvSpPr>
        <p:spPr>
          <a:xfrm>
            <a:off x="5964600" y="3396388"/>
            <a:ext cx="24540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20"/>
          <p:cNvSpPr txBox="1"/>
          <p:nvPr>
            <p:ph idx="7" type="subTitle"/>
          </p:nvPr>
        </p:nvSpPr>
        <p:spPr>
          <a:xfrm>
            <a:off x="72000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5" name="Google Shape;205;p20"/>
          <p:cNvSpPr txBox="1"/>
          <p:nvPr>
            <p:ph idx="8" type="subTitle"/>
          </p:nvPr>
        </p:nvSpPr>
        <p:spPr>
          <a:xfrm>
            <a:off x="334247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idx="9" type="subTitle"/>
          </p:nvPr>
        </p:nvSpPr>
        <p:spPr>
          <a:xfrm>
            <a:off x="5964600" y="12891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13" type="subTitle"/>
          </p:nvPr>
        </p:nvSpPr>
        <p:spPr>
          <a:xfrm>
            <a:off x="720000" y="2917532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14" type="subTitle"/>
          </p:nvPr>
        </p:nvSpPr>
        <p:spPr>
          <a:xfrm>
            <a:off x="3342470" y="2917532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15" type="subTitle"/>
          </p:nvPr>
        </p:nvSpPr>
        <p:spPr>
          <a:xfrm>
            <a:off x="5964600" y="29175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i="1" sz="1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210" name="Google Shape;210;p20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0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/>
          <p:nvPr/>
        </p:nvCxnSpPr>
        <p:spPr>
          <a:xfrm rot="10800000">
            <a:off x="6985310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hasCustomPrompt="1" type="title"/>
          </p:nvPr>
        </p:nvSpPr>
        <p:spPr>
          <a:xfrm>
            <a:off x="1564800" y="600575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0" name="Google Shape;220;p21"/>
          <p:cNvSpPr txBox="1"/>
          <p:nvPr>
            <p:ph idx="1" type="subTitle"/>
          </p:nvPr>
        </p:nvSpPr>
        <p:spPr>
          <a:xfrm>
            <a:off x="1564800" y="1352318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hasCustomPrompt="1" idx="2" type="title"/>
          </p:nvPr>
        </p:nvSpPr>
        <p:spPr>
          <a:xfrm>
            <a:off x="1564800" y="1973274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2" name="Google Shape;222;p21"/>
          <p:cNvSpPr txBox="1"/>
          <p:nvPr>
            <p:ph idx="3" type="subTitle"/>
          </p:nvPr>
        </p:nvSpPr>
        <p:spPr>
          <a:xfrm>
            <a:off x="1564800" y="2725017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hasCustomPrompt="1" idx="4" type="title"/>
          </p:nvPr>
        </p:nvSpPr>
        <p:spPr>
          <a:xfrm>
            <a:off x="1564800" y="3345973"/>
            <a:ext cx="60144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24" name="Google Shape;224;p21"/>
          <p:cNvSpPr txBox="1"/>
          <p:nvPr>
            <p:ph idx="5" type="subTitle"/>
          </p:nvPr>
        </p:nvSpPr>
        <p:spPr>
          <a:xfrm>
            <a:off x="1564800" y="4097716"/>
            <a:ext cx="60144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225" name="Google Shape;225;p21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1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21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1" name="Google Shape;231;p22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2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2"/>
          <p:cNvSpPr/>
          <p:nvPr/>
        </p:nvSpPr>
        <p:spPr>
          <a:xfrm>
            <a:off x="424325" y="1672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8552575" y="4809188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37" name="Google Shape;237;p23"/>
          <p:cNvCxnSpPr/>
          <p:nvPr/>
        </p:nvCxnSpPr>
        <p:spPr>
          <a:xfrm rot="10800000"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3"/>
          <p:cNvCxnSpPr/>
          <p:nvPr/>
        </p:nvCxnSpPr>
        <p:spPr>
          <a:xfrm rot="10800000">
            <a:off x="6995857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3"/>
          <p:cNvSpPr/>
          <p:nvPr/>
        </p:nvSpPr>
        <p:spPr>
          <a:xfrm flipH="1">
            <a:off x="855257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23"/>
          <p:cNvCxnSpPr/>
          <p:nvPr/>
        </p:nvCxnSpPr>
        <p:spPr>
          <a:xfrm rot="10800000"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3"/>
          <p:cNvCxnSpPr/>
          <p:nvPr/>
        </p:nvCxnSpPr>
        <p:spPr>
          <a:xfrm rot="10800000">
            <a:off x="715107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3"/>
          <p:cNvSpPr/>
          <p:nvPr/>
        </p:nvSpPr>
        <p:spPr>
          <a:xfrm flipH="1">
            <a:off x="47652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2_1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45" name="Google Shape;245;p24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4"/>
          <p:cNvCxnSpPr/>
          <p:nvPr/>
        </p:nvCxnSpPr>
        <p:spPr>
          <a:xfrm flipH="1" rot="10800000">
            <a:off x="704543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24"/>
          <p:cNvSpPr/>
          <p:nvPr/>
        </p:nvSpPr>
        <p:spPr>
          <a:xfrm>
            <a:off x="476525" y="5004986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24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4"/>
          <p:cNvCxnSpPr/>
          <p:nvPr/>
        </p:nvCxnSpPr>
        <p:spPr>
          <a:xfrm flipH="1" rot="10800000">
            <a:off x="698529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4"/>
          <p:cNvSpPr/>
          <p:nvPr/>
        </p:nvSpPr>
        <p:spPr>
          <a:xfrm>
            <a:off x="8552575" y="18251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25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5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5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5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5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 txBox="1"/>
          <p:nvPr>
            <p:ph type="ctrTitle"/>
          </p:nvPr>
        </p:nvSpPr>
        <p:spPr>
          <a:xfrm>
            <a:off x="1365350" y="535000"/>
            <a:ext cx="5286000" cy="105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1" name="Google Shape;261;p25"/>
          <p:cNvSpPr txBox="1"/>
          <p:nvPr>
            <p:ph idx="1" type="subTitle"/>
          </p:nvPr>
        </p:nvSpPr>
        <p:spPr>
          <a:xfrm>
            <a:off x="1365350" y="1591300"/>
            <a:ext cx="5286000" cy="829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2" name="Google Shape;262;p25"/>
          <p:cNvSpPr txBox="1"/>
          <p:nvPr/>
        </p:nvSpPr>
        <p:spPr>
          <a:xfrm>
            <a:off x="1365450" y="354250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and includes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26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6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6"/>
          <p:cNvCxnSpPr/>
          <p:nvPr/>
        </p:nvCxnSpPr>
        <p:spPr>
          <a:xfrm flipH="1" rot="10800000">
            <a:off x="7003418" y="4719950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/>
          <p:nvPr/>
        </p:nvCxnSpPr>
        <p:spPr>
          <a:xfrm flipH="1" rot="10800000">
            <a:off x="704543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6"/>
          <p:cNvSpPr/>
          <p:nvPr/>
        </p:nvSpPr>
        <p:spPr>
          <a:xfrm>
            <a:off x="8552575" y="4636363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424325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0" name="Google Shape;270;p26"/>
          <p:cNvCxnSpPr/>
          <p:nvPr/>
        </p:nvCxnSpPr>
        <p:spPr>
          <a:xfrm rot="10800000">
            <a:off x="7003425" y="77975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6"/>
          <p:cNvSpPr/>
          <p:nvPr/>
        </p:nvSpPr>
        <p:spPr>
          <a:xfrm flipH="1">
            <a:off x="8560143" y="334325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26"/>
          <p:cNvCxnSpPr/>
          <p:nvPr/>
        </p:nvCxnSpPr>
        <p:spPr>
          <a:xfrm rot="10800000">
            <a:off x="696975" y="4761738"/>
            <a:ext cx="1443600" cy="345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26"/>
          <p:cNvSpPr/>
          <p:nvPr/>
        </p:nvSpPr>
        <p:spPr>
          <a:xfrm flipH="1">
            <a:off x="424318" y="4678150"/>
            <a:ext cx="167100" cy="1671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27"/>
          <p:cNvCxnSpPr/>
          <p:nvPr/>
        </p:nvCxnSpPr>
        <p:spPr>
          <a:xfrm>
            <a:off x="704550" y="250763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7"/>
          <p:cNvCxnSpPr/>
          <p:nvPr/>
        </p:nvCxnSpPr>
        <p:spPr>
          <a:xfrm>
            <a:off x="704550" y="4892738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27"/>
          <p:cNvSpPr/>
          <p:nvPr/>
        </p:nvSpPr>
        <p:spPr>
          <a:xfrm>
            <a:off x="855257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47652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8552575" y="4835300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476525" y="193325"/>
            <a:ext cx="114900" cy="114900"/>
          </a:xfrm>
          <a:prstGeom prst="diamond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ctrTitle"/>
          </p:nvPr>
        </p:nvSpPr>
        <p:spPr>
          <a:xfrm>
            <a:off x="704550" y="761800"/>
            <a:ext cx="6145200" cy="330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Reading Period Effectively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Clarify your goals</a:t>
            </a:r>
            <a:endParaRPr sz="2800"/>
          </a:p>
        </p:txBody>
      </p:sp>
      <p:sp>
        <p:nvSpPr>
          <p:cNvPr id="297" name="Google Shape;297;p32"/>
          <p:cNvSpPr txBox="1"/>
          <p:nvPr>
            <p:ph idx="1" type="body"/>
          </p:nvPr>
        </p:nvSpPr>
        <p:spPr>
          <a:xfrm>
            <a:off x="720000" y="10934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Char char="●"/>
            </a:pP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Collect all the communications and logistical info about your courses’ final exams: When are your exams? What will be covered? What materials or events do you have to review or attend?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Now read through the course’s topics to identify which are high priority for you. </a:t>
            </a: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These should be concepts that are likely to show up. You may need to browse learning objectives, Canvas, or a practice exam or two to get some ideas!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a priority list of topics that need review specific to you. </a:t>
            </a:r>
            <a:b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</a:b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Avoid studying things unlikely to appear and things you’re most confident about.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Targeting your approach</a:t>
            </a:r>
            <a:endParaRPr/>
          </a:p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720000" y="10934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Collect your exams and skills checks. Review them and take notes. </a:t>
            </a: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Were your errors conceptual or computational? How did you prepare and did that support your performance effectively? Were there consistent breakdowns in the problem-solving process? Where? 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Identify if your emphasis of studying will need to change for the final exam.</a:t>
            </a: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Which practices will be most important for you to use? Which stage of the problem-solving process will be most important for you to focus on? </a:t>
            </a: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should echo through your approach on a regular basis.</a:t>
            </a:r>
            <a:endParaRPr b="1" sz="1500">
              <a:solidFill>
                <a:srgbClr val="1E1E1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60350" lvl="0" marL="457200" rtl="0" algn="l">
              <a:spcBef>
                <a:spcPts val="0"/>
              </a:spcBef>
              <a:spcAft>
                <a:spcPts val="0"/>
              </a:spcAft>
              <a:buSzPts val="500"/>
              <a:buChar char="●"/>
            </a:pPr>
            <a:br>
              <a:rPr lang="en" sz="500"/>
            </a:br>
            <a:endParaRPr sz="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</p:txBody>
      </p:sp>
      <p:sp>
        <p:nvSpPr>
          <p:cNvPr id="309" name="Google Shape;309;p34"/>
          <p:cNvSpPr txBox="1"/>
          <p:nvPr>
            <p:ph idx="1" type="body"/>
          </p:nvPr>
        </p:nvSpPr>
        <p:spPr>
          <a:xfrm>
            <a:off x="720000" y="1093450"/>
            <a:ext cx="38052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To Do List</a:t>
            </a:r>
            <a:endParaRPr sz="18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Review Optimization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Review Exponential Functions and Modeling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1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2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3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00"/>
                </a:highlight>
              </a:rPr>
              <a:t>Dec 12: Review Sessions</a:t>
            </a:r>
            <a:endParaRPr sz="18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00"/>
                </a:highlight>
              </a:rPr>
              <a:t>Dec 13: Review Sessions</a:t>
            </a:r>
            <a:endParaRPr sz="18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0" name="Google Shape;310;p34"/>
          <p:cNvSpPr txBox="1"/>
          <p:nvPr>
            <p:ph idx="1" type="body"/>
          </p:nvPr>
        </p:nvSpPr>
        <p:spPr>
          <a:xfrm>
            <a:off x="4890750" y="1093450"/>
            <a:ext cx="38052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Study Schedule</a:t>
            </a:r>
            <a:endParaRPr sz="18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00"/>
                </a:highlight>
              </a:rPr>
              <a:t>Dec 12: Optimization Review Session, Practice Exam Walkthrough</a:t>
            </a:r>
            <a:endParaRPr sz="18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00"/>
                </a:highlight>
              </a:rPr>
              <a:t>Dec 13: Limits and Continuity</a:t>
            </a:r>
            <a:endParaRPr sz="18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highlight>
                  <a:srgbClr val="FFFF00"/>
                </a:highlight>
              </a:rPr>
              <a:t>Dec 18: Final Exam</a:t>
            </a:r>
            <a:endParaRPr sz="18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</p:txBody>
      </p:sp>
      <p:sp>
        <p:nvSpPr>
          <p:cNvPr id="316" name="Google Shape;316;p35"/>
          <p:cNvSpPr txBox="1"/>
          <p:nvPr>
            <p:ph idx="1" type="body"/>
          </p:nvPr>
        </p:nvSpPr>
        <p:spPr>
          <a:xfrm>
            <a:off x="720000" y="1093450"/>
            <a:ext cx="38052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To Do List</a:t>
            </a:r>
            <a:endParaRPr sz="18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Review Optimization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Review Exponential Functions and Modeling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1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2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Take Practice Exam 3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Grade and review feedback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Dec 12: Review Sessions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Dec 13: Review Sessions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35"/>
          <p:cNvSpPr txBox="1"/>
          <p:nvPr>
            <p:ph idx="1" type="body"/>
          </p:nvPr>
        </p:nvSpPr>
        <p:spPr>
          <a:xfrm>
            <a:off x="4890750" y="1093450"/>
            <a:ext cx="41334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Study Schedule</a:t>
            </a:r>
            <a:endParaRPr sz="18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8: Review Optimization</a:t>
            </a:r>
            <a:br>
              <a:rPr lang="en" sz="1400">
                <a:latin typeface="Caveat"/>
                <a:ea typeface="Caveat"/>
                <a:cs typeface="Caveat"/>
                <a:sym typeface="Caveat"/>
              </a:rPr>
            </a:b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9: Review Exponential Functions and Modeling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10: Take Practice Exam 1 for the walkthrough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11: Take Practice Exam 2, review and make questions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12: Optimization Review Session, Practice Exam Walkthrough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13: Limits and Continuity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14: Final for another class - no planned studying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15: </a:t>
            </a:r>
            <a:r>
              <a:rPr lang="en" sz="1400">
                <a:latin typeface="Caveat"/>
                <a:ea typeface="Caveat"/>
                <a:cs typeface="Caveat"/>
                <a:sym typeface="Caveat"/>
              </a:rPr>
              <a:t>Review Practice Exam 2 (OH)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16: Take and review Practice Exam 3, make questions to review in OH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17: review feedback (OH)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18: Final Exam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</p:txBody>
      </p:sp>
      <p:sp>
        <p:nvSpPr>
          <p:cNvPr id="323" name="Google Shape;323;p36"/>
          <p:cNvSpPr txBox="1"/>
          <p:nvPr>
            <p:ph idx="1" type="body"/>
          </p:nvPr>
        </p:nvSpPr>
        <p:spPr>
          <a:xfrm>
            <a:off x="720000" y="1093450"/>
            <a:ext cx="38052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/>
              <a:t>Tips for your study schedule:</a:t>
            </a:r>
            <a:endParaRPr sz="1500" u="sng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Put the to-do list in your calendar in reverse order.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Avoid studying on days with </a:t>
            </a:r>
            <a:r>
              <a:rPr lang="en" sz="1500"/>
              <a:t>substantial</a:t>
            </a:r>
            <a:r>
              <a:rPr lang="en" sz="1500"/>
              <a:t> commitments.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Focus on </a:t>
            </a:r>
            <a:r>
              <a:rPr b="1" lang="en" sz="1500"/>
              <a:t>active</a:t>
            </a:r>
            <a:r>
              <a:rPr lang="en" sz="1500"/>
              <a:t> styles of review (doing problems, practicing computation)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Most detailed to-do list for early days, then adjust your to-do list based on feedback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Lean towards learning objectives that you are least confident about.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4" name="Google Shape;324;p36"/>
          <p:cNvSpPr txBox="1"/>
          <p:nvPr>
            <p:ph idx="1" type="body"/>
          </p:nvPr>
        </p:nvSpPr>
        <p:spPr>
          <a:xfrm>
            <a:off x="4890750" y="1093450"/>
            <a:ext cx="4118100" cy="3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Study Schedule</a:t>
            </a:r>
            <a:endParaRPr sz="1800" u="sng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8: Review Optimization</a:t>
            </a:r>
            <a:br>
              <a:rPr lang="en" sz="1400">
                <a:latin typeface="Caveat"/>
                <a:ea typeface="Caveat"/>
                <a:cs typeface="Caveat"/>
                <a:sym typeface="Caveat"/>
              </a:rPr>
            </a:b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9: Review Exponential Functions and Modeling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10: Take Practice Exam 1 for the walkthrough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11: Take Practice Exam 2, review and make questions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12: Optimization Review Session, Practice Exam Walkthrough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13: Limits and Continuity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14: Final for another class - no planned studying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15: Review Practice Exam 2 (OH)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16: Take and review Practice Exam 3, make questions to review in OH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veat"/>
                <a:ea typeface="Caveat"/>
                <a:cs typeface="Caveat"/>
                <a:sym typeface="Caveat"/>
              </a:rPr>
              <a:t>Dec 17: review feedback (OH)</a:t>
            </a:r>
            <a:endParaRPr sz="1400">
              <a:latin typeface="Caveat"/>
              <a:ea typeface="Caveat"/>
              <a:cs typeface="Caveat"/>
              <a:sym typeface="Cave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00"/>
                </a:highlight>
              </a:rPr>
              <a:t>Dec 18: Final Exam</a:t>
            </a:r>
            <a:endParaRPr sz="1400"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effectively from doing problems</a:t>
            </a:r>
            <a:endParaRPr/>
          </a:p>
        </p:txBody>
      </p:sp>
      <p:sp>
        <p:nvSpPr>
          <p:cNvPr id="330" name="Google Shape;330;p37"/>
          <p:cNvSpPr txBox="1"/>
          <p:nvPr>
            <p:ph idx="1" type="body"/>
          </p:nvPr>
        </p:nvSpPr>
        <p:spPr>
          <a:xfrm>
            <a:off x="720000" y="10934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/>
            </a:br>
            <a:endParaRPr sz="1800"/>
          </a:p>
        </p:txBody>
      </p:sp>
      <p:sp>
        <p:nvSpPr>
          <p:cNvPr id="331" name="Google Shape;331;p37"/>
          <p:cNvSpPr txBox="1"/>
          <p:nvPr>
            <p:ph idx="1" type="body"/>
          </p:nvPr>
        </p:nvSpPr>
        <p:spPr>
          <a:xfrm>
            <a:off x="720000" y="962550"/>
            <a:ext cx="7704000" cy="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Libre Franklin"/>
              <a:buChar char="●"/>
            </a:pP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Make sure to avoid only consuming correct work (e.g. reading solution sets). </a:t>
            </a:r>
            <a:r>
              <a:rPr b="1" lang="en" sz="1500">
                <a:solidFill>
                  <a:srgbClr val="1E1E1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Engage with your own thought process most of all.</a:t>
            </a:r>
            <a:endParaRPr b="1" sz="1500">
              <a:solidFill>
                <a:srgbClr val="1E1E1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Libre Franklin"/>
              <a:buChar char="●"/>
            </a:pP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Get specific with your questions! What are </a:t>
            </a:r>
            <a:r>
              <a:rPr i="1"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you</a:t>
            </a: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struggling with in a problem? 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Libre Franklin"/>
              <a:buChar char="●"/>
            </a:pP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Test whether you’ve gotten full understanding from a problem by talking through: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Libre Franklin"/>
              <a:buChar char="○"/>
            </a:pPr>
            <a:r>
              <a:rPr lang="en" sz="13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What happened in the problem?</a:t>
            </a:r>
            <a:endParaRPr sz="13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Libre Franklin"/>
              <a:buChar char="○"/>
            </a:pPr>
            <a:r>
              <a:rPr lang="en" sz="13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Why did the problem’s steps prove effective?</a:t>
            </a:r>
            <a:endParaRPr sz="13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Libre Franklin"/>
              <a:buChar char="○"/>
            </a:pPr>
            <a:r>
              <a:rPr lang="en" sz="13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How would we know to do this in the future?</a:t>
            </a:r>
            <a:endParaRPr sz="13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On an upcoming pset, you’ll design your own Final Exam Study Schedule! Make sure these principles are at work in the structure of your schedule &amp; your daily approach.</a:t>
            </a:r>
            <a:endParaRPr sz="1500">
              <a:solidFill>
                <a:srgbClr val="1E1E1E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41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"/>
              <a:buFont typeface="Libre Franklin"/>
              <a:buChar char="●"/>
            </a:pPr>
            <a:r>
              <a:t/>
            </a:r>
            <a:endParaRPr b="1" sz="200">
              <a:solidFill>
                <a:srgbClr val="1E1E1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34950" lvl="0" marL="457200" rtl="0" algn="l"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br>
              <a:rPr lang="en" sz="100"/>
            </a:br>
            <a:endParaRPr sz="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legant Minimalist MK Plan by Slidesgo">
  <a:themeElements>
    <a:clrScheme name="Simple Light">
      <a:dk1>
        <a:srgbClr val="3A3A3A"/>
      </a:dk1>
      <a:lt1>
        <a:srgbClr val="E7EBF7"/>
      </a:lt1>
      <a:dk2>
        <a:srgbClr val="5D5959"/>
      </a:dk2>
      <a:lt2>
        <a:srgbClr val="D9DDE8"/>
      </a:lt2>
      <a:accent1>
        <a:srgbClr val="C7CCDA"/>
      </a:accent1>
      <a:accent2>
        <a:srgbClr val="A3ACC6"/>
      </a:accent2>
      <a:accent3>
        <a:srgbClr val="818FB5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